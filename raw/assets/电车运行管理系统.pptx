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🚃 现代有轨电车运行管理系统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 Operations Management 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389120"/>
            <a:ext cx="76809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 · ATS · CBTC · TSP · SCADA · 牵引供电 · 预测维护   | 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目录 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运行控制中心 (OCC)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1664208"/>
            <a:ext cx="64008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10512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81051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信号与列车控制 (CBTC/GoA)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2286000"/>
            <a:ext cx="64008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432304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4323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43230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路口信号优先 (TSP)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71600" y="2907792"/>
            <a:ext cx="64008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054096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0540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05409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牵引供电系统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71600" y="3529584"/>
            <a:ext cx="64008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675888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675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67588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车辆段管理 &amp; 预测维护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71600" y="4151376"/>
            <a:ext cx="64008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297680"/>
            <a:ext cx="411480" cy="4114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4297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供应商生态 &amp; 未来趋势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系统架构总览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五大核心子系统由 OCC 统一调度</a:t>
            </a:r>
            <a:endParaRPr lang="en-US" sz="1400" dirty="0"/>
          </a:p>
        </p:txBody>
      </p:sp>
      <p:pic>
        <p:nvPicPr>
          <p:cNvPr id="4" name="Image 0" descr="/opt/data/workspace/tram_ops_overview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52135" y="1143000"/>
            <a:ext cx="6039729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运行控制中心 (OCC)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51560"/>
            <a:ext cx="64008" cy="1691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  ATS 列车自动监督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监控所有列车位置/速度/准点率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自动路由设定, 冲突检测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时刻表实时调节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051560"/>
            <a:ext cx="64008" cy="1691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88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SCADA 设备监控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牵引供电:电压/电流/温度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断路器远程分合闸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隧道通风/消防/照明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971800"/>
            <a:ext cx="64008" cy="1691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108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AVLS 车辆定位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356616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里程计 + 地面信标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 ±1~5 米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实时位置上报 ATS/PIS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971800"/>
            <a:ext cx="3840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971800"/>
            <a:ext cx="64008" cy="1691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108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PIS + CCTV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356616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站台实时到站预报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车载广播 &amp; 信息屏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全线 IP 摄像头网络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 物理布局: 巨型视频墙 + 调度员工作站 + 冗余热备服务器 + UPS 不间断电源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信号与列车控制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64008" cy="1828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传统: 目视行车 (LoS)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司机目视控制速度和制动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遵循道路交通规则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仅道岔/单线/隧道设信号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适用: 路面混合路权路段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64008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现代: CBTC (IEEE 1474)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5087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 — 自动防护: 超速强制制动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— 自动运行: 速度调节, 精确停车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— 自动监督: 路由设定, 时刻表调节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适用: 独立路权, 高密度线路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自动化等级 (GoA)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298448" cy="6400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6616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GoA 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8862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全手动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920240" y="3566160"/>
            <a:ext cx="1572768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1920240" y="35661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GoA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38862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手动+ATP防护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566160" y="3566160"/>
            <a:ext cx="1938528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356616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GoA 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38862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半自动 (ATO+司机)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577840" y="3566160"/>
            <a:ext cx="1938528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0" y="356616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GoA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38862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无人驾驶 (有乘务员)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589520" y="3566160"/>
            <a:ext cx="1298448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0" y="356616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GoA 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89520" y="38862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全自动无人值守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Siemens 已在德国波茨坦成功测试 GoA 4 无人驾驶电车 (2023) — 全程 6km 无司机运行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路口信号优先 (TSP)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Signal Priority — 电车如何"一路绿灯"</a:t>
            </a:r>
            <a:endParaRPr lang="en-US" sz="1300" dirty="0"/>
          </a:p>
        </p:txBody>
      </p:sp>
      <p:pic>
        <p:nvPicPr>
          <p:cNvPr id="4" name="Image 0" descr="/opt/data/workspace/tram_tsp_diagram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320" y="1097280"/>
            <a:ext cx="85953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牵引供电系统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750V DC — 从城市电网到接触网</a:t>
            </a:r>
            <a:endParaRPr lang="en-US" sz="1300" dirty="0"/>
          </a:p>
        </p:txBody>
      </p:sp>
      <p:pic>
        <p:nvPicPr>
          <p:cNvPr id="4" name="Image 0" descr="/opt/data/workspace/tram_power_system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320" y="1097280"/>
            <a:ext cx="85953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车辆段管理 &amp; 预测维护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404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64008" cy="3840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车辆段功能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" y="1645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停车调度 — 轨道分配, 过夜停放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031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" y="2057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车辆清洗 — 自动洗车线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251460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146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300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耗材补充 — 撒砂, 雨刮液等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292608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926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段内信号 — 联锁系统 (CBI)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333756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3375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" y="3291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与车队管理 / ERP 集成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749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维护等级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4114800"/>
            <a:ext cx="86868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1148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日检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3708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目视+清洁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737360" y="4114800"/>
            <a:ext cx="868680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1737360" y="41148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定检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37360" y="43708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闸瓦/轮对/碳条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651760" y="4114800"/>
            <a:ext cx="86868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2651760" y="41148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架修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51760" y="43708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转向架/电机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566160" y="4114800"/>
            <a:ext cx="868680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3566160" y="41148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大修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66160" y="43708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10-15年全拆解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754880" y="1005840"/>
            <a:ext cx="38404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1005840"/>
            <a:ext cx="64008" cy="38404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预测维护体系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29200" y="1691640"/>
            <a:ext cx="338328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5120640" y="1691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车载 TCMS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20640" y="19019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实时采集牵引/制动/车门/空调数据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0" y="2258568"/>
            <a:ext cx="338328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Text 39"/>
          <p:cNvSpPr/>
          <p:nvPr/>
        </p:nvSpPr>
        <p:spPr>
          <a:xfrm>
            <a:off x="5120640" y="22585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事件记录仪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20640" y="2468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防撞"黑匣子", 数据无线卸载(Wi-Fi/LTE)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029200" y="2825496"/>
            <a:ext cx="338328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5120640" y="28254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轮对冲击检测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20640" y="30358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— 检测车轮扁疤和轨道冲击力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029200" y="3392424"/>
            <a:ext cx="338328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Text 45"/>
          <p:cNvSpPr/>
          <p:nvPr/>
        </p:nvSpPr>
        <p:spPr>
          <a:xfrm>
            <a:off x="5120640" y="33924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受电弓监测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20640" y="36027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摄像头/激光检测碳条磨损和接触网状态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029200" y="3959352"/>
            <a:ext cx="338328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0" name="Text 48"/>
          <p:cNvSpPr/>
          <p:nvPr/>
        </p:nvSpPr>
        <p:spPr>
          <a:xfrm>
            <a:off x="5120640" y="39593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故障预测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20640" y="41696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建模 → 提前预测故障 → 自动生成工单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全球供应商生态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0175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供应商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核心产品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优势领域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Siemens Mobility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Trainguard MT · Vicos ATS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Avenio 电车 · Sitras 供电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端到端集成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无人驾驶电车研发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Alstom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Iconis ATS · Smartlock CBI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Citadis 电车 · APS 地面供电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无触网供电 (APS)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交钥匙电车系统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CRRC 中国中车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国产 CBTC · TST 电车信号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大连/株洲电车车辆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中国市场主导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成本优势, 交钥匙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SelTrac CBTC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TMS 电车管理系统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曼彻斯特 Metrolink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深厚信号技术积累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Hitachi Rail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ATS · CBTC 解决方案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并购 Thales/Ansaldo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信号组合丰富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4526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另有: CAF (西班牙) — Urbos 电车平台, 接触网/电池混合供电方案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未来趋势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60604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26060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无触网供电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 / 超级电容 / 电池 / 氢燃料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消除架空线视觉污染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37560" y="1051560"/>
            <a:ext cx="260604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3337560" y="1051560"/>
            <a:ext cx="260604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188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20440" y="1737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云化 OCC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从本地服务器迁移至云端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降低成本, 弹性扩展, 灾备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60604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1051560"/>
            <a:ext cx="26060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188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09360" y="17373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自动驾驶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 4 无人驾驶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波茨坦已示范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017520"/>
            <a:ext cx="260604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017520"/>
            <a:ext cx="260604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1546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🪞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31520" y="37033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数字孪生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069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全网络虚拟镜像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仿真, 优化, 培训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37560" y="3017520"/>
            <a:ext cx="260604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3337560" y="3017520"/>
            <a:ext cx="26060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3337560" y="31546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520440" y="37033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C-V2X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0440" y="4069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车路协同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电车⇔信号灯⇔其他车辆直接通信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26480" y="3017520"/>
            <a:ext cx="260604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6126480" y="3017520"/>
            <a:ext cx="260604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31546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309360" y="37033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智能电网融合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09360" y="4069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再生能量回馈电网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电车作为移动储能单元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谢谢！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3832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运行管理 = OCC 统一调度 + 5大子系统协同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 路口优先是电车准时运行的核心技术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供电走向无触网 (APS/超级电容/氢能)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预测维护 + 云化 OCC + 自动驾驶 = 未来方向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Hermes Agent ·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现代有轨电车运行管理系统</dc:title>
  <dc:subject>PptxGenJS Presentation</dc:subject>
  <dc:creator>Charlie Shao</dc:creator>
  <cp:lastModifiedBy>Charlie Shao</cp:lastModifiedBy>
  <cp:revision>1</cp:revision>
  <dcterms:created xsi:type="dcterms:W3CDTF">2026-05-02T17:57:32Z</dcterms:created>
  <dcterms:modified xsi:type="dcterms:W3CDTF">2026-05-02T17:57:32Z</dcterms:modified>
</cp:coreProperties>
</file>